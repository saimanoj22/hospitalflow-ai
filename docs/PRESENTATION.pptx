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2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9159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aimanoj22.github.io/hospitalflow-ai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youtu.be/gJRL3qPQtG0" TargetMode="External"/><Relationship Id="rId4" Type="http://schemas.openxmlformats.org/officeDocument/2006/relationships/hyperlink" Target="https://github.com/saimanoj22/hospitalflow-a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5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5BE0C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2064" y="256032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kern="0" spc="140" dirty="0">
                <a:solidFill>
                  <a:srgbClr val="F3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HOSPITALFLOW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011680" y="256032"/>
            <a:ext cx="338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283464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kern="0" spc="160" dirty="0">
                <a:solidFill>
                  <a:srgbClr val="7B96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INTRODUCTION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6537960"/>
            <a:ext cx="11155680" cy="0"/>
          </a:xfrm>
          <a:prstGeom prst="line">
            <a:avLst/>
          </a:prstGeom>
          <a:noFill/>
          <a:ln w="10160">
            <a:solidFill>
              <a:srgbClr val="2D45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12064" y="6620256"/>
            <a:ext cx="7772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kern="0" spc="110" dirty="0">
                <a:solidFill>
                  <a:srgbClr val="7B96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PROOF OF CONCEPT · NOT FOR CLINICAL USE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1201400" y="6592824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571232" y="585216"/>
            <a:ext cx="5852160" cy="5852160"/>
          </a:xfrm>
          <a:prstGeom prst="ellipse">
            <a:avLst/>
          </a:prstGeom>
          <a:solidFill>
            <a:srgbClr val="143840">
              <a:alpha val="5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03504" y="1143000"/>
            <a:ext cx="4242816" cy="320040"/>
          </a:xfrm>
          <a:prstGeom prst="roundRect">
            <a:avLst>
              <a:gd name="adj" fmla="val 34286"/>
            </a:avLst>
          </a:prstGeom>
          <a:solidFill>
            <a:srgbClr val="182D40"/>
          </a:solidFill>
          <a:ln w="12700">
            <a:solidFill>
              <a:srgbClr val="182D4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1188720"/>
            <a:ext cx="4078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 DIGITAL TWIN · CASE COMPETITION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21792" y="1865376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3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if we could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21792" y="2560320"/>
            <a:ext cx="8778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rehearse the surge?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658368" y="3611880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3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HospitalFlow AI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58368" y="411480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5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interactive Emergency Department twin for exploring patient flow, bottlenecks, and staffing decisions.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" y="4910328"/>
            <a:ext cx="7132320" cy="1527041"/>
          </a:xfrm>
          <a:prstGeom prst="roundRect">
            <a:avLst>
              <a:gd name="adj" fmla="val 20339"/>
            </a:avLst>
          </a:prstGeom>
          <a:solidFill>
            <a:srgbClr val="182D40"/>
          </a:solidFill>
          <a:ln w="10795">
            <a:solidFill>
              <a:srgbClr val="2D45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13815" y="4965192"/>
            <a:ext cx="6680669" cy="13829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: sai.manoj.260101103 (</a:t>
            </a:r>
            <a:r>
              <a:rPr lang="en-US" sz="1100" b="1" dirty="0" err="1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SynapseX</a:t>
            </a:r>
            <a:r>
              <a:rPr lang="en-US" sz="1100" b="1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  </a:t>
            </a:r>
            <a:br>
              <a:rPr lang="en-US" sz="1100" b="1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br>
              <a:rPr lang="en-US" sz="1100" b="1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r>
              <a:rPr lang="en-US" sz="1100" b="1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Etcherla Sai Manoj </a:t>
            </a:r>
            <a:br>
              <a:rPr lang="en-US" sz="1100" b="1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r>
              <a:rPr lang="en-US" sz="1100" b="1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Parameswara Meena </a:t>
            </a:r>
            <a:r>
              <a:rPr lang="en-US" sz="1100" b="1" dirty="0" err="1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Peddakotla</a:t>
            </a:r>
            <a:r>
              <a:rPr lang="en-US" sz="1100" b="1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br>
              <a:rPr lang="en-US" sz="1100" b="1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r>
              <a:rPr lang="en-US" sz="1100" b="1" dirty="0" err="1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Madhavaneni</a:t>
            </a:r>
            <a:r>
              <a:rPr lang="en-US" sz="1100" b="1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Vivek Rao </a:t>
            </a:r>
            <a:br>
              <a:rPr lang="en-US" sz="1100" b="1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r>
              <a:rPr lang="en-US" sz="1100" b="1" dirty="0" err="1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Valivarthi</a:t>
            </a:r>
            <a:r>
              <a:rPr lang="en-US" sz="1100" b="1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Bhargava Varma</a:t>
            </a:r>
            <a:endParaRPr lang="en-US" sz="1100" dirty="0"/>
          </a:p>
        </p:txBody>
      </p:sp>
      <p:pic>
        <p:nvPicPr>
          <p:cNvPr id="18" name="Image 0" descr="/mnt/data/HospitalFlow-AI/docs/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2057400"/>
            <a:ext cx="3639312" cy="20391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5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5BE0C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2064" y="256032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kern="0" spc="140" dirty="0">
                <a:solidFill>
                  <a:srgbClr val="F3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HOSPITALFLOW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011680" y="256032"/>
            <a:ext cx="338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283464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kern="0" spc="160" dirty="0">
                <a:solidFill>
                  <a:srgbClr val="7B96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PROBLEM STATEMENT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6537960"/>
            <a:ext cx="11155680" cy="0"/>
          </a:xfrm>
          <a:prstGeom prst="line">
            <a:avLst/>
          </a:prstGeom>
          <a:noFill/>
          <a:ln w="10160">
            <a:solidFill>
              <a:srgbClr val="2D45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12064" y="6620256"/>
            <a:ext cx="7772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kern="0" spc="110" dirty="0">
                <a:solidFill>
                  <a:srgbClr val="7B96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PROOF OF CONCEPT · NOT FOR CLINICAL USE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1201400" y="6592824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85039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90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1887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3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Bottlenecks emerge before dashboards explain them.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612648" y="182880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A5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 demand, triage capacity, clinicians and downstream beds interact as one system.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2633472"/>
            <a:ext cx="3511296" cy="2331720"/>
          </a:xfrm>
          <a:prstGeom prst="roundRect">
            <a:avLst>
              <a:gd name="adj" fmla="val 4706"/>
            </a:avLst>
          </a:prstGeom>
          <a:solidFill>
            <a:srgbClr val="142337"/>
          </a:solidFill>
          <a:ln w="10795">
            <a:solidFill>
              <a:srgbClr val="2D45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04672" y="2907792"/>
            <a:ext cx="73152" cy="384048"/>
          </a:xfrm>
          <a:prstGeom prst="roundRect">
            <a:avLst>
              <a:gd name="adj" fmla="val 150000"/>
            </a:avLst>
          </a:prstGeom>
          <a:solidFill>
            <a:srgbClr val="75BCFA"/>
          </a:solidFill>
          <a:ln w="12700">
            <a:solidFill>
              <a:srgbClr val="75BC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14984" y="2889504"/>
            <a:ext cx="28712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3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01. Demand is stochastic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14984" y="3465576"/>
            <a:ext cx="274320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A5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Arrival surges compound waiting times as limited resources compete for attention.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52544" y="2633472"/>
            <a:ext cx="3511296" cy="2331720"/>
          </a:xfrm>
          <a:prstGeom prst="roundRect">
            <a:avLst>
              <a:gd name="adj" fmla="val 4706"/>
            </a:avLst>
          </a:prstGeom>
          <a:solidFill>
            <a:srgbClr val="142337"/>
          </a:solidFill>
          <a:ln w="10795">
            <a:solidFill>
              <a:srgbClr val="2D45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62856" y="2907792"/>
            <a:ext cx="73152" cy="384048"/>
          </a:xfrm>
          <a:prstGeom prst="roundRect">
            <a:avLst>
              <a:gd name="adj" fmla="val 150000"/>
            </a:avLst>
          </a:prstGeom>
          <a:solidFill>
            <a:srgbClr val="AA94FA"/>
          </a:solidFill>
          <a:ln w="12700">
            <a:solidFill>
              <a:srgbClr val="AA94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73168" y="2889504"/>
            <a:ext cx="28712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3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02. Queues are coupled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773168" y="3465576"/>
            <a:ext cx="274320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A5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bottleneck at one step can influence triage, treatment and critical-care queues.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10728" y="2633472"/>
            <a:ext cx="3511296" cy="2331720"/>
          </a:xfrm>
          <a:prstGeom prst="roundRect">
            <a:avLst>
              <a:gd name="adj" fmla="val 4706"/>
            </a:avLst>
          </a:prstGeom>
          <a:solidFill>
            <a:srgbClr val="142337"/>
          </a:solidFill>
          <a:ln w="10795">
            <a:solidFill>
              <a:srgbClr val="2D45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321040" y="2907792"/>
            <a:ext cx="73152" cy="384048"/>
          </a:xfrm>
          <a:prstGeom prst="roundRect">
            <a:avLst>
              <a:gd name="adj" fmla="val 150000"/>
            </a:avLst>
          </a:prstGeom>
          <a:solidFill>
            <a:srgbClr val="FFB773"/>
          </a:solidFill>
          <a:ln w="12700">
            <a:solidFill>
              <a:srgbClr val="FFB7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531352" y="2889504"/>
            <a:ext cx="28712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3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03. Policies need testing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31352" y="3465576"/>
            <a:ext cx="274320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A5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static census cannot show how a different staffing allocation might change future states.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4360" y="5257800"/>
            <a:ext cx="11027664" cy="612648"/>
          </a:xfrm>
          <a:prstGeom prst="roundRect">
            <a:avLst>
              <a:gd name="adj" fmla="val 17910"/>
            </a:avLst>
          </a:prstGeom>
          <a:solidFill>
            <a:srgbClr val="143D3A"/>
          </a:solidFill>
          <a:ln w="10795">
            <a:solidFill>
              <a:srgbClr val="3576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59536" y="5422392"/>
            <a:ext cx="10561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QUESTION: Can a virtual ED rehearse disruptions and evaluate resource choices transparently?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5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5BE0C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2064" y="256032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kern="0" spc="140" dirty="0">
                <a:solidFill>
                  <a:srgbClr val="F3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HOSPITALFLOW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011680" y="256032"/>
            <a:ext cx="338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283464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kern="0" spc="160" dirty="0">
                <a:solidFill>
                  <a:srgbClr val="7B96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SOLUTION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6537960"/>
            <a:ext cx="11155680" cy="0"/>
          </a:xfrm>
          <a:prstGeom prst="line">
            <a:avLst/>
          </a:prstGeom>
          <a:noFill/>
          <a:ln w="10160">
            <a:solidFill>
              <a:srgbClr val="2D45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12064" y="6620256"/>
            <a:ext cx="7772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kern="0" spc="110" dirty="0">
                <a:solidFill>
                  <a:srgbClr val="7B96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PROOF OF CONCEPT · NOT FOR CLINICAL USE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1201400" y="6592824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85039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90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1887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3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live state to counterfactual decisions.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612648" y="182880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A5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digital twin connects incoming events, a stateful model, metrics and intervention tests.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3504" y="2478024"/>
            <a:ext cx="2679192" cy="2487168"/>
          </a:xfrm>
          <a:prstGeom prst="roundRect">
            <a:avLst>
              <a:gd name="adj" fmla="val 4412"/>
            </a:avLst>
          </a:prstGeom>
          <a:solidFill>
            <a:srgbClr val="142337"/>
          </a:solidFill>
          <a:ln w="10795">
            <a:solidFill>
              <a:srgbClr val="2D45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13816" y="2706624"/>
            <a:ext cx="384048" cy="365760"/>
          </a:xfrm>
          <a:prstGeom prst="roundRect">
            <a:avLst>
              <a:gd name="adj" fmla="val 30000"/>
            </a:avLst>
          </a:prstGeom>
          <a:solidFill>
            <a:srgbClr val="182D40"/>
          </a:solidFill>
          <a:ln w="12700">
            <a:solidFill>
              <a:srgbClr val="182D4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2743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5BC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3264408"/>
            <a:ext cx="2221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3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EVENTS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22960" y="3822192"/>
            <a:ext cx="217627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A5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Seeded Poisson arrivals and patient acuity.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3493008"/>
            <a:ext cx="2103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502152" y="2478024"/>
            <a:ext cx="2679192" cy="2487168"/>
          </a:xfrm>
          <a:prstGeom prst="roundRect">
            <a:avLst>
              <a:gd name="adj" fmla="val 4412"/>
            </a:avLst>
          </a:prstGeom>
          <a:solidFill>
            <a:srgbClr val="142337"/>
          </a:solidFill>
          <a:ln w="10795">
            <a:solidFill>
              <a:srgbClr val="2D45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712464" y="2706624"/>
            <a:ext cx="384048" cy="365760"/>
          </a:xfrm>
          <a:prstGeom prst="roundRect">
            <a:avLst>
              <a:gd name="adj" fmla="val 30000"/>
            </a:avLst>
          </a:prstGeom>
          <a:solidFill>
            <a:srgbClr val="182D40"/>
          </a:solidFill>
          <a:ln w="12700">
            <a:solidFill>
              <a:srgbClr val="182D4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721608" y="2743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721608" y="3264408"/>
            <a:ext cx="2221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3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VIRTUAL ED STATE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3721608" y="3822192"/>
            <a:ext cx="217627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A5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queues, service capacities and patient pathways.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36208" y="3493008"/>
            <a:ext cx="2103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400800" y="2478024"/>
            <a:ext cx="2679192" cy="2487168"/>
          </a:xfrm>
          <a:prstGeom prst="roundRect">
            <a:avLst>
              <a:gd name="adj" fmla="val 4412"/>
            </a:avLst>
          </a:prstGeom>
          <a:solidFill>
            <a:srgbClr val="142337"/>
          </a:solidFill>
          <a:ln w="10795">
            <a:solidFill>
              <a:srgbClr val="2D45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611112" y="2706624"/>
            <a:ext cx="384048" cy="365760"/>
          </a:xfrm>
          <a:prstGeom prst="roundRect">
            <a:avLst>
              <a:gd name="adj" fmla="val 30000"/>
            </a:avLst>
          </a:prstGeom>
          <a:solidFill>
            <a:srgbClr val="182D40"/>
          </a:solidFill>
          <a:ln w="12700">
            <a:solidFill>
              <a:srgbClr val="182D4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620256" y="2743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A9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620256" y="3264408"/>
            <a:ext cx="2221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3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ENGINE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6620256" y="3822192"/>
            <a:ext cx="217627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A5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Replays, constrained allocation search and forecasting.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34856" y="3493008"/>
            <a:ext cx="2103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9299448" y="2478024"/>
            <a:ext cx="2679192" cy="2487168"/>
          </a:xfrm>
          <a:prstGeom prst="roundRect">
            <a:avLst>
              <a:gd name="adj" fmla="val 4412"/>
            </a:avLst>
          </a:prstGeom>
          <a:solidFill>
            <a:srgbClr val="142337"/>
          </a:solidFill>
          <a:ln w="10795">
            <a:solidFill>
              <a:srgbClr val="2D45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509760" y="2706624"/>
            <a:ext cx="384048" cy="365760"/>
          </a:xfrm>
          <a:prstGeom prst="roundRect">
            <a:avLst>
              <a:gd name="adj" fmla="val 30000"/>
            </a:avLst>
          </a:prstGeom>
          <a:solidFill>
            <a:srgbClr val="182D40"/>
          </a:solidFill>
          <a:ln w="12700">
            <a:solidFill>
              <a:srgbClr val="182D4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518904" y="2743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B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518904" y="3264408"/>
            <a:ext cx="2221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3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HUMAN-IN-THE-LOOP UI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9518904" y="3822192"/>
            <a:ext cx="217627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A5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/ 2D rooms, patient inspector and scenario controls.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0080" y="5312664"/>
            <a:ext cx="6995160" cy="320040"/>
          </a:xfrm>
          <a:prstGeom prst="roundRect">
            <a:avLst>
              <a:gd name="adj" fmla="val 34286"/>
            </a:avLst>
          </a:prstGeom>
          <a:solidFill>
            <a:srgbClr val="182D40"/>
          </a:solidFill>
          <a:ln w="12700">
            <a:solidFill>
              <a:srgbClr val="182D4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22376" y="5358384"/>
            <a:ext cx="6830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 LOOP: USER CHANGES INPUTS → TWIN UPDATES → NEW SCENARIOS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5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5BE0C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2064" y="256032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kern="0" spc="140" dirty="0">
                <a:solidFill>
                  <a:srgbClr val="F3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HOSPITALFLOW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011680" y="256032"/>
            <a:ext cx="338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283464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kern="0" spc="160" dirty="0">
                <a:solidFill>
                  <a:srgbClr val="7B96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WORKING PROTOTYPE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6537960"/>
            <a:ext cx="11155680" cy="0"/>
          </a:xfrm>
          <a:prstGeom prst="line">
            <a:avLst/>
          </a:prstGeom>
          <a:noFill/>
          <a:ln w="10160">
            <a:solidFill>
              <a:srgbClr val="2D45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12064" y="6620256"/>
            <a:ext cx="7772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kern="0" spc="110" dirty="0">
                <a:solidFill>
                  <a:srgbClr val="7B96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PROOF OF CONCEPT · NOT FOR CLINICAL USE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1201400" y="6592824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85039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90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PRODUCT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1887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3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 a hospital in 3D — and follow every patient.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612648" y="182880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A5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Orbit, zoom, click a patient or switch to 2D. Both views reflect the same simulation state.</a:t>
            </a:r>
            <a:endParaRPr lang="en-US" sz="1400" dirty="0"/>
          </a:p>
        </p:txBody>
      </p:sp>
      <p:pic>
        <p:nvPicPr>
          <p:cNvPr id="12" name="Image 0" descr="/mnt/data/HospitalFlow-AI/docs/slide-twin-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58568"/>
            <a:ext cx="8412480" cy="38862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281160" y="2377440"/>
            <a:ext cx="2267712" cy="1060704"/>
          </a:xfrm>
          <a:prstGeom prst="roundRect">
            <a:avLst>
              <a:gd name="adj" fmla="val 10345"/>
            </a:avLst>
          </a:prstGeom>
          <a:solidFill>
            <a:srgbClr val="142337"/>
          </a:solidFill>
          <a:ln w="10795">
            <a:solidFill>
              <a:srgbClr val="2D45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9491472" y="2651760"/>
            <a:ext cx="73152" cy="384048"/>
          </a:xfrm>
          <a:prstGeom prst="roundRect">
            <a:avLst>
              <a:gd name="adj" fmla="val 150000"/>
            </a:avLst>
          </a:prstGeom>
          <a:solidFill>
            <a:srgbClr val="5BE0C6"/>
          </a:solidFill>
          <a:ln w="12700">
            <a:solidFill>
              <a:srgbClr val="5BE0C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9701784" y="2633472"/>
            <a:ext cx="16276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3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hospital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9701784" y="3209544"/>
            <a:ext cx="14996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0000" lnSpcReduction="2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A5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Orbitable rooms + live beds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281160" y="3575304"/>
            <a:ext cx="2267712" cy="1060704"/>
          </a:xfrm>
          <a:prstGeom prst="roundRect">
            <a:avLst>
              <a:gd name="adj" fmla="val 10345"/>
            </a:avLst>
          </a:prstGeom>
          <a:solidFill>
            <a:srgbClr val="142337"/>
          </a:solidFill>
          <a:ln w="10795">
            <a:solidFill>
              <a:srgbClr val="2D45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9491472" y="3849624"/>
            <a:ext cx="73152" cy="384048"/>
          </a:xfrm>
          <a:prstGeom prst="roundRect">
            <a:avLst>
              <a:gd name="adj" fmla="val 150000"/>
            </a:avLst>
          </a:prstGeom>
          <a:solidFill>
            <a:srgbClr val="75BCFA"/>
          </a:solidFill>
          <a:ln w="12700">
            <a:solidFill>
              <a:srgbClr val="75BC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9701784" y="3831336"/>
            <a:ext cx="16276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3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2D / 3D toggle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9701784" y="4407408"/>
            <a:ext cx="14996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0000" lnSpcReduction="2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A5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patients + journey trace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9281160" y="4773168"/>
            <a:ext cx="2267712" cy="1060704"/>
          </a:xfrm>
          <a:prstGeom prst="roundRect">
            <a:avLst>
              <a:gd name="adj" fmla="val 10345"/>
            </a:avLst>
          </a:prstGeom>
          <a:solidFill>
            <a:srgbClr val="142337"/>
          </a:solidFill>
          <a:ln w="10795">
            <a:solidFill>
              <a:srgbClr val="2D45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9491472" y="5047488"/>
            <a:ext cx="73152" cy="384048"/>
          </a:xfrm>
          <a:prstGeom prst="roundRect">
            <a:avLst>
              <a:gd name="adj" fmla="val 150000"/>
            </a:avLst>
          </a:prstGeom>
          <a:solidFill>
            <a:srgbClr val="FFB773"/>
          </a:solidFill>
          <a:ln w="12700">
            <a:solidFill>
              <a:srgbClr val="FFB7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9701784" y="5029200"/>
            <a:ext cx="16276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3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What-if controls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9701784" y="5605272"/>
            <a:ext cx="14996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0000" lnSpcReduction="2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A5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Staff, beds, arrivals, surge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5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5BE0C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2064" y="256032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kern="0" spc="140" dirty="0">
                <a:solidFill>
                  <a:srgbClr val="F3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HOSPITALFLOW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011680" y="256032"/>
            <a:ext cx="338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283464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kern="0" spc="160" dirty="0">
                <a:solidFill>
                  <a:srgbClr val="7B96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VIRTUAL SYSTEM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6537960"/>
            <a:ext cx="11155680" cy="0"/>
          </a:xfrm>
          <a:prstGeom prst="line">
            <a:avLst/>
          </a:prstGeom>
          <a:noFill/>
          <a:ln w="10160">
            <a:solidFill>
              <a:srgbClr val="2D45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12064" y="6620256"/>
            <a:ext cx="7772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kern="0" spc="110" dirty="0">
                <a:solidFill>
                  <a:srgbClr val="7B96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PROOF OF CONCEPT · NOT FOR CLINICAL USE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1201400" y="6592824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85039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90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MECHANICS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1887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3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patient-level model with constrained resources.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612648" y="182880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A5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synthetic patient carries an acuity, arrival timestamp, stage and remaining service time.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67512" y="2487168"/>
            <a:ext cx="1901952" cy="1179576"/>
          </a:xfrm>
          <a:prstGeom prst="roundRect">
            <a:avLst>
              <a:gd name="adj" fmla="val 9302"/>
            </a:avLst>
          </a:prstGeom>
          <a:solidFill>
            <a:srgbClr val="142337"/>
          </a:solidFill>
          <a:ln w="10795">
            <a:solidFill>
              <a:srgbClr val="2D45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13816" y="2660904"/>
            <a:ext cx="100584" cy="612648"/>
          </a:xfrm>
          <a:prstGeom prst="roundRect">
            <a:avLst>
              <a:gd name="adj" fmla="val 109091"/>
            </a:avLst>
          </a:prstGeom>
          <a:solidFill>
            <a:srgbClr val="75BCFA"/>
          </a:solidFill>
          <a:ln w="12700">
            <a:solidFill>
              <a:srgbClr val="75BC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78408" y="2743200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3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ARRIVAL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06040" y="29443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907792" y="2487168"/>
            <a:ext cx="1901952" cy="1179576"/>
          </a:xfrm>
          <a:prstGeom prst="roundRect">
            <a:avLst>
              <a:gd name="adj" fmla="val 9302"/>
            </a:avLst>
          </a:prstGeom>
          <a:solidFill>
            <a:srgbClr val="142337"/>
          </a:solidFill>
          <a:ln w="10795">
            <a:solidFill>
              <a:srgbClr val="2D45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054096" y="2660904"/>
            <a:ext cx="100584" cy="612648"/>
          </a:xfrm>
          <a:prstGeom prst="roundRect">
            <a:avLst>
              <a:gd name="adj" fmla="val 109091"/>
            </a:avLst>
          </a:prstGeom>
          <a:solidFill>
            <a:srgbClr val="5BE0C6"/>
          </a:solidFill>
          <a:ln w="12700">
            <a:solidFill>
              <a:srgbClr val="5BE0C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18688" y="2743200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3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29443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148072" y="2487168"/>
            <a:ext cx="1901952" cy="1179576"/>
          </a:xfrm>
          <a:prstGeom prst="roundRect">
            <a:avLst>
              <a:gd name="adj" fmla="val 9302"/>
            </a:avLst>
          </a:prstGeom>
          <a:solidFill>
            <a:srgbClr val="142337"/>
          </a:solidFill>
          <a:ln w="10795">
            <a:solidFill>
              <a:srgbClr val="2D45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294376" y="2660904"/>
            <a:ext cx="100584" cy="612648"/>
          </a:xfrm>
          <a:prstGeom prst="roundRect">
            <a:avLst>
              <a:gd name="adj" fmla="val 109091"/>
            </a:avLst>
          </a:prstGeom>
          <a:solidFill>
            <a:srgbClr val="AA94FA"/>
          </a:solidFill>
          <a:ln w="12700">
            <a:solidFill>
              <a:srgbClr val="AA94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58968" y="2743200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3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86600" y="29443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388352" y="2487168"/>
            <a:ext cx="1901952" cy="1179576"/>
          </a:xfrm>
          <a:prstGeom prst="roundRect">
            <a:avLst>
              <a:gd name="adj" fmla="val 9302"/>
            </a:avLst>
          </a:prstGeom>
          <a:solidFill>
            <a:srgbClr val="142337"/>
          </a:solidFill>
          <a:ln w="10795">
            <a:solidFill>
              <a:srgbClr val="2D45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534656" y="2660904"/>
            <a:ext cx="100584" cy="612648"/>
          </a:xfrm>
          <a:prstGeom prst="roundRect">
            <a:avLst>
              <a:gd name="adj" fmla="val 109091"/>
            </a:avLst>
          </a:prstGeom>
          <a:solidFill>
            <a:srgbClr val="FFB773"/>
          </a:solidFill>
          <a:ln w="12700">
            <a:solidFill>
              <a:srgbClr val="FFB7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699248" y="2743200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3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326880" y="29443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628632" y="2487168"/>
            <a:ext cx="1901952" cy="1179576"/>
          </a:xfrm>
          <a:prstGeom prst="roundRect">
            <a:avLst>
              <a:gd name="adj" fmla="val 9302"/>
            </a:avLst>
          </a:prstGeom>
          <a:solidFill>
            <a:srgbClr val="142337"/>
          </a:solidFill>
          <a:ln w="10795">
            <a:solidFill>
              <a:srgbClr val="2D45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774936" y="2660904"/>
            <a:ext cx="100584" cy="612648"/>
          </a:xfrm>
          <a:prstGeom prst="roundRect">
            <a:avLst>
              <a:gd name="adj" fmla="val 109091"/>
            </a:avLst>
          </a:prstGeom>
          <a:solidFill>
            <a:srgbClr val="5BE0C6"/>
          </a:solidFill>
          <a:ln w="12700">
            <a:solidFill>
              <a:srgbClr val="5BE0C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939528" y="2743200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3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202936" y="4069080"/>
            <a:ext cx="1892808" cy="1005840"/>
          </a:xfrm>
          <a:prstGeom prst="roundRect">
            <a:avLst>
              <a:gd name="adj" fmla="val 10909"/>
            </a:avLst>
          </a:prstGeom>
          <a:solidFill>
            <a:srgbClr val="1B303C"/>
          </a:solidFill>
          <a:ln w="10795">
            <a:solidFill>
              <a:srgbClr val="3864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568696" y="44348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↳ ICU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704088" y="5532120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3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Priority: P1 first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3712464" y="553212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A5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Constraints: nurses, physicians, treatment beds, ICU beds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5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5BE0C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2064" y="256032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kern="0" spc="140" dirty="0">
                <a:solidFill>
                  <a:srgbClr val="F3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HOSPITALFLOW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011680" y="256032"/>
            <a:ext cx="338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283464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kern="0" spc="160" dirty="0">
                <a:solidFill>
                  <a:srgbClr val="7B96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SCENARIO LAB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6537960"/>
            <a:ext cx="11155680" cy="0"/>
          </a:xfrm>
          <a:prstGeom prst="line">
            <a:avLst/>
          </a:prstGeom>
          <a:noFill/>
          <a:ln w="10160">
            <a:solidFill>
              <a:srgbClr val="2D45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12064" y="6620256"/>
            <a:ext cx="7772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kern="0" spc="110" dirty="0">
                <a:solidFill>
                  <a:srgbClr val="7B96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PROOF OF CONCEPT · NOT FOR CLINICAL USE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1201400" y="6592824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85039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90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EXPERIMENTS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1887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3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the same surge under different staff allocations.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612648" y="182880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A5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four candidate configurations are constrained to three additional float staff.</a:t>
            </a:r>
            <a:endParaRPr lang="en-US" sz="1400" dirty="0"/>
          </a:p>
        </p:txBody>
      </p:sp>
      <p:pic>
        <p:nvPicPr>
          <p:cNvPr id="12" name="Image 0" descr="/mnt/data/HospitalFlow-AI/docs/scenario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286000"/>
            <a:ext cx="8366760" cy="384048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290304" y="2295144"/>
            <a:ext cx="2240280" cy="3346704"/>
          </a:xfrm>
          <a:prstGeom prst="roundRect">
            <a:avLst>
              <a:gd name="adj" fmla="val 4898"/>
            </a:avLst>
          </a:prstGeom>
          <a:solidFill>
            <a:srgbClr val="142337"/>
          </a:solidFill>
          <a:ln w="10795">
            <a:solidFill>
              <a:srgbClr val="2D45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482328" y="2560320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473184" y="291693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3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9482328" y="351129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A5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floating staff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482328" y="3950208"/>
            <a:ext cx="1828800" cy="0"/>
          </a:xfrm>
          <a:prstGeom prst="line">
            <a:avLst/>
          </a:prstGeom>
          <a:noFill/>
          <a:ln w="12700">
            <a:solidFill>
              <a:srgbClr val="2D45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9482328" y="417880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AA9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3600" dirty="0"/>
          </a:p>
        </p:txBody>
      </p:sp>
      <p:sp>
        <p:nvSpPr>
          <p:cNvPr id="19" name="Text 16"/>
          <p:cNvSpPr/>
          <p:nvPr/>
        </p:nvSpPr>
        <p:spPr>
          <a:xfrm>
            <a:off x="9482328" y="4791456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A5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 allocations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5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5BE0C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2064" y="256032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kern="0" spc="140" dirty="0">
                <a:solidFill>
                  <a:srgbClr val="F3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HOSPITALFLOW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011680" y="256032"/>
            <a:ext cx="338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283464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kern="0" spc="160" dirty="0">
                <a:solidFill>
                  <a:srgbClr val="7B96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SIMULATED FINDINGS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6537960"/>
            <a:ext cx="11155680" cy="0"/>
          </a:xfrm>
          <a:prstGeom prst="line">
            <a:avLst/>
          </a:prstGeom>
          <a:noFill/>
          <a:ln w="10160">
            <a:solidFill>
              <a:srgbClr val="2D45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12064" y="6620256"/>
            <a:ext cx="7772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kern="0" spc="110" dirty="0">
                <a:solidFill>
                  <a:srgbClr val="7B96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PROOF OF CONCEPT · NOT FOR CLINICAL USE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1201400" y="6592824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85039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90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SIMULATION RESULTS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1887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3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Adding flexible capacity changes modeled congestion.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612648" y="182880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A5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deterministic six-hour evaluation · 90-minute warmup · fixed seed 34071.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468880"/>
            <a:ext cx="5294376" cy="2889504"/>
          </a:xfrm>
          <a:prstGeom prst="roundRect">
            <a:avLst>
              <a:gd name="adj" fmla="val 3797"/>
            </a:avLst>
          </a:prstGeom>
          <a:solidFill>
            <a:srgbClr val="142337"/>
          </a:solidFill>
          <a:ln w="10795">
            <a:solidFill>
              <a:srgbClr val="2D45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2706624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ARRIVAL RATE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3026664"/>
            <a:ext cx="4754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7B96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 base arrivals / hour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34564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5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19272" y="34564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5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3 FLOAT STAFF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3785616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3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14.36 min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3319272" y="3785616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8.22 min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868680" y="477316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A5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QUEUE: 2.00 → 0.05 patients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2468880"/>
            <a:ext cx="5294376" cy="2889504"/>
          </a:xfrm>
          <a:prstGeom prst="roundRect">
            <a:avLst>
              <a:gd name="adj" fmla="val 3797"/>
            </a:avLst>
          </a:prstGeom>
          <a:solidFill>
            <a:srgbClr val="142337"/>
          </a:solidFill>
          <a:ln w="10795">
            <a:solidFill>
              <a:srgbClr val="2D45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92240" y="2706624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B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SURGE ARRIVAL RATE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3026664"/>
            <a:ext cx="4754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7B96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×1.8 demand multiplier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92240" y="34564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5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42832" y="34564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5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3 FLOAT STAFF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92240" y="3785616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3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32.26 min</a:t>
            </a:r>
            <a:endParaRPr lang="en-US" sz="2700" dirty="0"/>
          </a:p>
        </p:txBody>
      </p:sp>
      <p:sp>
        <p:nvSpPr>
          <p:cNvPr id="26" name="Text 24"/>
          <p:cNvSpPr/>
          <p:nvPr/>
        </p:nvSpPr>
        <p:spPr>
          <a:xfrm>
            <a:off x="8942832" y="3785616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30.07 min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6492240" y="477316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A5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QUEUE: 70.11 → 42.70 patients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9224" y="5568696"/>
            <a:ext cx="10890504" cy="548640"/>
          </a:xfrm>
          <a:prstGeom prst="roundRect">
            <a:avLst>
              <a:gd name="adj" fmla="val 20000"/>
            </a:avLst>
          </a:prstGeom>
          <a:solidFill>
            <a:srgbClr val="162D35"/>
          </a:solidFill>
          <a:ln w="10795">
            <a:solidFill>
              <a:srgbClr val="3658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77824" y="5724144"/>
            <a:ext cx="10424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B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are SIMULATED comparisons, not real hospital performance gains or validated clinical policies.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5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5BE0C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2064" y="256032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kern="0" spc="140" dirty="0">
                <a:solidFill>
                  <a:srgbClr val="F3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HOSPITALFLOW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011680" y="256032"/>
            <a:ext cx="338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283464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kern="0" spc="160" dirty="0">
                <a:solidFill>
                  <a:srgbClr val="7B96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DECISION LOGIC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6537960"/>
            <a:ext cx="11155680" cy="0"/>
          </a:xfrm>
          <a:prstGeom prst="line">
            <a:avLst/>
          </a:prstGeom>
          <a:noFill/>
          <a:ln w="10160">
            <a:solidFill>
              <a:srgbClr val="2D45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12064" y="6620256"/>
            <a:ext cx="7772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kern="0" spc="110" dirty="0">
                <a:solidFill>
                  <a:srgbClr val="7B96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PROOF OF CONCEPT · NOT FOR CLINICAL USE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1201400" y="6592824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85039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90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EXPLAINABLE OPTIMIZATION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1887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3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black-box recommendations.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612648" y="182880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A5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Exhaustively test all valid splits of the same three floating staff.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8368" y="2523744"/>
            <a:ext cx="5230368" cy="1143000"/>
          </a:xfrm>
          <a:prstGeom prst="roundRect">
            <a:avLst>
              <a:gd name="adj" fmla="val 9600"/>
            </a:avLst>
          </a:prstGeom>
          <a:solidFill>
            <a:srgbClr val="142337"/>
          </a:solidFill>
          <a:ln w="10795">
            <a:solidFill>
              <a:srgbClr val="2D45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77824" y="271576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A5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01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77824" y="304495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3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nurses  +  3 physicians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190488" y="2523744"/>
            <a:ext cx="5230368" cy="1143000"/>
          </a:xfrm>
          <a:prstGeom prst="roundRect">
            <a:avLst>
              <a:gd name="adj" fmla="val 9600"/>
            </a:avLst>
          </a:prstGeom>
          <a:solidFill>
            <a:srgbClr val="153B34"/>
          </a:solidFill>
          <a:ln w="10795">
            <a:solidFill>
              <a:srgbClr val="4B98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9944" y="271576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9944" y="304495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3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nurse  +  2 physicians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482328" y="2697480"/>
            <a:ext cx="1709928" cy="320040"/>
          </a:xfrm>
          <a:prstGeom prst="roundRect">
            <a:avLst>
              <a:gd name="adj" fmla="val 34286"/>
            </a:avLst>
          </a:prstGeom>
          <a:solidFill>
            <a:srgbClr val="182D40"/>
          </a:solidFill>
          <a:ln w="12700">
            <a:solidFill>
              <a:srgbClr val="182D4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573768" y="2752344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LOWEST TESTED SCORE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58368" y="3913632"/>
            <a:ext cx="5230368" cy="1143000"/>
          </a:xfrm>
          <a:prstGeom prst="roundRect">
            <a:avLst>
              <a:gd name="adj" fmla="val 9600"/>
            </a:avLst>
          </a:prstGeom>
          <a:solidFill>
            <a:srgbClr val="142337"/>
          </a:solidFill>
          <a:ln w="10795">
            <a:solidFill>
              <a:srgbClr val="2D45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77824" y="4105656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A5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77824" y="443484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3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nurses  +  1 physician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190488" y="3913632"/>
            <a:ext cx="5230368" cy="1143000"/>
          </a:xfrm>
          <a:prstGeom prst="roundRect">
            <a:avLst>
              <a:gd name="adj" fmla="val 9600"/>
            </a:avLst>
          </a:prstGeom>
          <a:solidFill>
            <a:srgbClr val="142337"/>
          </a:solidFill>
          <a:ln w="10795">
            <a:solidFill>
              <a:srgbClr val="2D45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9944" y="4105656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A5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9944" y="443484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3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nurses  +  0 physicians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76656" y="5577840"/>
            <a:ext cx="1975104" cy="320040"/>
          </a:xfrm>
          <a:prstGeom prst="roundRect">
            <a:avLst>
              <a:gd name="adj" fmla="val 34286"/>
            </a:avLst>
          </a:prstGeom>
          <a:solidFill>
            <a:srgbClr val="182D40"/>
          </a:solidFill>
          <a:ln w="12700">
            <a:solidFill>
              <a:srgbClr val="182D4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58952" y="562356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COMPOSITE OBJECTIVE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862072" y="5586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A5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wait + 0.8 × mean queue + 40 / (1 + discharges / 50)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5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5BE0C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2064" y="256032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kern="0" spc="140" dirty="0">
                <a:solidFill>
                  <a:srgbClr val="F3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HOSPITALFLOW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011680" y="256032"/>
            <a:ext cx="338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283464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kern="0" spc="160" dirty="0">
                <a:solidFill>
                  <a:srgbClr val="7B96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MACHINE LEARNING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6537960"/>
            <a:ext cx="11155680" cy="0"/>
          </a:xfrm>
          <a:prstGeom prst="line">
            <a:avLst/>
          </a:prstGeom>
          <a:noFill/>
          <a:ln w="10160">
            <a:solidFill>
              <a:srgbClr val="2D45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12064" y="6620256"/>
            <a:ext cx="7772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kern="0" spc="110" dirty="0">
                <a:solidFill>
                  <a:srgbClr val="7B96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PROOF OF CONCEPT · NOT FOR CLINICAL USE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1201400" y="6592824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85039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90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FORECASTING COMPONENT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1887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3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real trained model. A transparent synthetic benchmark.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612648" y="182880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A5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Ridge regression on Fourier seasonality features; no hospital dataset or protected patient information.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514600"/>
            <a:ext cx="3749040" cy="2862072"/>
          </a:xfrm>
          <a:prstGeom prst="roundRect">
            <a:avLst>
              <a:gd name="adj" fmla="val 3834"/>
            </a:avLst>
          </a:prstGeom>
          <a:solidFill>
            <a:srgbClr val="142337"/>
          </a:solidFill>
          <a:ln w="10795">
            <a:solidFill>
              <a:srgbClr val="2D45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41832" y="277977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SET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41832" y="3127248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F3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1,848</a:t>
            </a:r>
            <a:endParaRPr lang="en-US" sz="3500" dirty="0"/>
          </a:p>
        </p:txBody>
      </p:sp>
      <p:sp>
        <p:nvSpPr>
          <p:cNvPr id="15" name="Text 13"/>
          <p:cNvSpPr/>
          <p:nvPr/>
        </p:nvSpPr>
        <p:spPr>
          <a:xfrm>
            <a:off x="941832" y="3758184"/>
            <a:ext cx="3017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A5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77 synthetic days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41832" y="47823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B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HOLDOUT: 504 OBSERVATIONS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0016" y="2514600"/>
            <a:ext cx="6821424" cy="2862072"/>
          </a:xfrm>
          <a:prstGeom prst="roundRect">
            <a:avLst>
              <a:gd name="adj" fmla="val 3834"/>
            </a:avLst>
          </a:prstGeom>
          <a:solidFill>
            <a:srgbClr val="142337"/>
          </a:solidFill>
          <a:ln w="10795">
            <a:solidFill>
              <a:srgbClr val="2D45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56048" y="2770632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A5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CHRONOLOGICAL HOLDOUT MAE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83480" y="32735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A5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Constant-mean baseline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03536" y="327355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3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4.138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83480" y="3685032"/>
            <a:ext cx="5916168" cy="201168"/>
          </a:xfrm>
          <a:prstGeom prst="roundRect">
            <a:avLst>
              <a:gd name="adj" fmla="val 54545"/>
            </a:avLst>
          </a:prstGeom>
          <a:solidFill>
            <a:srgbClr val="32465B"/>
          </a:solidFill>
          <a:ln w="12700">
            <a:solidFill>
              <a:srgbClr val="32465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83480" y="415137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A5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Harmonic ridge model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03536" y="415137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3.215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983480" y="4562856"/>
            <a:ext cx="4590288" cy="201168"/>
          </a:xfrm>
          <a:prstGeom prst="roundRect">
            <a:avLst>
              <a:gd name="adj" fmla="val 54545"/>
            </a:avLst>
          </a:prstGeom>
          <a:solidFill>
            <a:srgbClr val="5BE0C6"/>
          </a:solidFill>
          <a:ln w="12700">
            <a:solidFill>
              <a:srgbClr val="5BE0C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56048" y="5038344"/>
            <a:ext cx="6144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7B96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metrics are synthetic observations per hour; cannot generalize to real facilities.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4944" y="5705856"/>
            <a:ext cx="5468112" cy="320040"/>
          </a:xfrm>
          <a:prstGeom prst="roundRect">
            <a:avLst>
              <a:gd name="adj" fmla="val 34286"/>
            </a:avLst>
          </a:prstGeom>
          <a:solidFill>
            <a:srgbClr val="182D40"/>
          </a:solidFill>
          <a:ln w="12700">
            <a:solidFill>
              <a:srgbClr val="182D4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77240" y="575157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FEATURES: HOUR-OF-DAY FOURIER TERMS + WEEKEND FLAG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5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5BE0C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2064" y="256032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kern="0" spc="140" dirty="0">
                <a:solidFill>
                  <a:srgbClr val="F3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HOSPITALFLOW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011680" y="256032"/>
            <a:ext cx="338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283464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kern="0" spc="160" dirty="0">
                <a:solidFill>
                  <a:srgbClr val="7B96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ENGINEERING ARCHITECTURE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6537960"/>
            <a:ext cx="11155680" cy="0"/>
          </a:xfrm>
          <a:prstGeom prst="line">
            <a:avLst/>
          </a:prstGeom>
          <a:noFill/>
          <a:ln w="10160">
            <a:solidFill>
              <a:srgbClr val="2D45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12064" y="6620256"/>
            <a:ext cx="7772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kern="0" spc="110" dirty="0">
                <a:solidFill>
                  <a:srgbClr val="7B96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PROOF OF CONCEPT · NOT FOR CLINICAL USE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1201400" y="6592824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832104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80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ARCHITECTURE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1704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3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local-first architecture with no deployment dependencies.</a:t>
            </a:r>
            <a:endParaRPr lang="en-US" sz="2700" dirty="0"/>
          </a:p>
        </p:txBody>
      </p:sp>
      <p:pic>
        <p:nvPicPr>
          <p:cNvPr id="11" name="Image 0" descr="/mnt/data/HospitalFlow-AI/docs/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828800"/>
            <a:ext cx="1101852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5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5BE0C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2064" y="256032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kern="0" spc="140" dirty="0">
                <a:solidFill>
                  <a:srgbClr val="F3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HOSPITALFLOW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011680" y="256032"/>
            <a:ext cx="338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283464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kern="0" spc="160" dirty="0">
                <a:solidFill>
                  <a:srgbClr val="7B96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LIMITATIONS &amp; VALIDATION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6537960"/>
            <a:ext cx="11155680" cy="0"/>
          </a:xfrm>
          <a:prstGeom prst="line">
            <a:avLst/>
          </a:prstGeom>
          <a:noFill/>
          <a:ln w="10160">
            <a:solidFill>
              <a:srgbClr val="2D45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12064" y="6620256"/>
            <a:ext cx="7772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kern="0" spc="110" dirty="0">
                <a:solidFill>
                  <a:srgbClr val="7B96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PROOF OF CONCEPT · NOT FOR CLINICAL USE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1201400" y="6592824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85039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90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CREDIBILITY BEFORE HYPE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1887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3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tested — and what remains unproven.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612648" y="182880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A5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architecture is reproducible; operational and clinical validity require future real-world study.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8368" y="2478024"/>
            <a:ext cx="5330952" cy="2468880"/>
          </a:xfrm>
          <a:prstGeom prst="roundRect">
            <a:avLst>
              <a:gd name="adj" fmla="val 4444"/>
            </a:avLst>
          </a:prstGeom>
          <a:solidFill>
            <a:srgbClr val="142337"/>
          </a:solidFill>
          <a:ln w="10795">
            <a:solidFill>
              <a:srgbClr val="2D45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" y="2752344"/>
            <a:ext cx="73152" cy="384048"/>
          </a:xfrm>
          <a:prstGeom prst="roundRect">
            <a:avLst>
              <a:gd name="adj" fmla="val 150000"/>
            </a:avLst>
          </a:prstGeom>
          <a:solidFill>
            <a:srgbClr val="5BE0C6"/>
          </a:solidFill>
          <a:ln w="12700">
            <a:solidFill>
              <a:srgbClr val="5BE0C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78992" y="2734056"/>
            <a:ext cx="46908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3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INSIDE THE PROTOTYPE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78992" y="3310128"/>
            <a:ext cx="456285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A5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automated tests: reproducibility, conservation of patient state, resource caps, matched arrivals and acuity, surge sensitivity, optimizer completeness, edge cases.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90488" y="2478024"/>
            <a:ext cx="5330952" cy="2468880"/>
          </a:xfrm>
          <a:prstGeom prst="roundRect">
            <a:avLst>
              <a:gd name="adj" fmla="val 4444"/>
            </a:avLst>
          </a:prstGeom>
          <a:solidFill>
            <a:srgbClr val="142337"/>
          </a:solidFill>
          <a:ln w="10795">
            <a:solidFill>
              <a:srgbClr val="2D45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00800" y="2752344"/>
            <a:ext cx="73152" cy="384048"/>
          </a:xfrm>
          <a:prstGeom prst="roundRect">
            <a:avLst>
              <a:gd name="adj" fmla="val 150000"/>
            </a:avLst>
          </a:prstGeom>
          <a:solidFill>
            <a:srgbClr val="FFB773"/>
          </a:solidFill>
          <a:ln w="12700">
            <a:solidFill>
              <a:srgbClr val="FFB7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611112" y="2734056"/>
            <a:ext cx="46908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3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CLAIMED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611112" y="3310128"/>
            <a:ext cx="456285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A5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real patient data; no clinical validation; no safe staffing prescription; no live hospital integration; no demonstrated real-world improvement.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5248656"/>
            <a:ext cx="10853928" cy="658368"/>
          </a:xfrm>
          <a:prstGeom prst="roundRect">
            <a:avLst>
              <a:gd name="adj" fmla="val 16667"/>
            </a:avLst>
          </a:prstGeom>
          <a:solidFill>
            <a:srgbClr val="152E39"/>
          </a:solidFill>
          <a:ln w="10795">
            <a:solidFill>
              <a:srgbClr val="375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32688" y="5449824"/>
            <a:ext cx="10332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5BC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event-log calibration  →  prospective validation  →  clinical governance  →  operational integration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5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5BE0C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2064" y="256032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kern="0" spc="140" dirty="0">
                <a:solidFill>
                  <a:srgbClr val="F3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HOSPITALFLOW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011680" y="256032"/>
            <a:ext cx="338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283464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kern="0" spc="160" dirty="0">
                <a:solidFill>
                  <a:srgbClr val="7B96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CONCLUSION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6537960"/>
            <a:ext cx="11155680" cy="0"/>
          </a:xfrm>
          <a:prstGeom prst="line">
            <a:avLst/>
          </a:prstGeom>
          <a:noFill/>
          <a:ln w="10160">
            <a:solidFill>
              <a:srgbClr val="2D45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12064" y="6620256"/>
            <a:ext cx="7772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kern="0" spc="110" dirty="0">
                <a:solidFill>
                  <a:srgbClr val="7B96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PROOF OF CONCEPT · NOT FOR CLINICAL USE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1201400" y="6592824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9224" y="1133856"/>
            <a:ext cx="3319272" cy="320040"/>
          </a:xfrm>
          <a:prstGeom prst="roundRect">
            <a:avLst>
              <a:gd name="adj" fmla="val 34286"/>
            </a:avLst>
          </a:prstGeom>
          <a:solidFill>
            <a:srgbClr val="182D40"/>
          </a:solidFill>
          <a:ln w="12700">
            <a:solidFill>
              <a:srgbClr val="182D4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1179576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 OF CONCEPT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9224" y="1728216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700" b="1" dirty="0">
                <a:solidFill>
                  <a:srgbClr val="F3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Rehearse the Surge. Improve the Response.</a:t>
            </a:r>
            <a:endParaRPr lang="en-US" sz="3700" dirty="0"/>
          </a:p>
        </p:txBody>
      </p:sp>
      <p:sp>
        <p:nvSpPr>
          <p:cNvPr id="12" name="Text 10"/>
          <p:cNvSpPr/>
          <p:nvPr/>
        </p:nvSpPr>
        <p:spPr>
          <a:xfrm>
            <a:off x="658368" y="2624328"/>
            <a:ext cx="106344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A5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2D / 3D hospital twin  •  seeded simulation  •  trained forecast  •  scenario optimization  •  tests  •  documentation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67512" y="3639312"/>
            <a:ext cx="10863072" cy="1325880"/>
          </a:xfrm>
          <a:prstGeom prst="roundRect">
            <a:avLst>
              <a:gd name="adj" fmla="val 8276"/>
            </a:avLst>
          </a:prstGeom>
          <a:solidFill>
            <a:srgbClr val="142337"/>
          </a:solidFill>
          <a:ln w="10795">
            <a:solidFill>
              <a:srgbClr val="2D45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38587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70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START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4215384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3F9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/>
              </a:rPr>
              <a:t>Launch Application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76656" y="5321808"/>
            <a:ext cx="10872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r>
              <a:rPr lang="en-US" sz="1300" b="1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</a:t>
            </a:r>
            <a:r>
              <a:rPr lang="en-US" sz="1400" b="1" dirty="0" err="1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SynapseX</a:t>
            </a:r>
            <a:r>
              <a:rPr lang="en-US" sz="1300" b="1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•     MEMBERS  [</a:t>
            </a:r>
            <a:r>
              <a:rPr lang="en-US" sz="1400" b="1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Etcherla Sai Manoj , Parameswara Meena </a:t>
            </a:r>
            <a:r>
              <a:rPr lang="en-US" sz="1400" b="1" dirty="0" err="1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Peddakotla</a:t>
            </a:r>
            <a:r>
              <a:rPr lang="en-US" sz="1400" b="1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, </a:t>
            </a:r>
            <a:r>
              <a:rPr lang="en-US" sz="1400" b="1" dirty="0" err="1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Madhavaneni</a:t>
            </a:r>
            <a:r>
              <a:rPr lang="en-US" sz="1400" b="1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Vivek Rao , </a:t>
            </a:r>
            <a:r>
              <a:rPr lang="en-US" sz="1400" b="1" dirty="0" err="1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Valivarthi</a:t>
            </a:r>
            <a:r>
              <a:rPr lang="en-US" sz="1400" b="1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Bhargava Varma</a:t>
            </a:r>
            <a:r>
              <a:rPr lang="en-US" sz="1300" b="1" dirty="0">
                <a:solidFill>
                  <a:srgbClr val="5BE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]   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6656" y="580644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00" dirty="0">
                <a:solidFill>
                  <a:srgbClr val="A5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</a:t>
            </a:r>
            <a:r>
              <a:rPr lang="en-US" sz="1200" dirty="0">
                <a:solidFill>
                  <a:srgbClr val="A5B8C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/>
              </a:rPr>
              <a:t>https://github.com/saimanoj22/hospitalflow-ai</a:t>
            </a:r>
            <a:r>
              <a:rPr lang="en-US" sz="1200" dirty="0">
                <a:solidFill>
                  <a:srgbClr val="A5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]      DEMO VIDEO: [</a:t>
            </a:r>
            <a:r>
              <a:rPr lang="en-US" sz="1200" dirty="0">
                <a:solidFill>
                  <a:srgbClr val="A5B8C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/>
              </a:rPr>
              <a:t>https://</a:t>
            </a:r>
            <a:r>
              <a:rPr lang="en-US" sz="1200" dirty="0" err="1">
                <a:solidFill>
                  <a:srgbClr val="A5B8C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/>
              </a:rPr>
              <a:t>youtu.be</a:t>
            </a:r>
            <a:r>
              <a:rPr lang="en-US" sz="1200" dirty="0">
                <a:solidFill>
                  <a:srgbClr val="A5B8C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/>
              </a:rPr>
              <a:t>/gJRL3qPQtG0</a:t>
            </a:r>
            <a:r>
              <a:rPr lang="en-US" sz="1200" dirty="0">
                <a:solidFill>
                  <a:srgbClr val="A5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989</Words>
  <Application>Microsoft Macintosh PowerPoint</Application>
  <PresentationFormat>Widescreen</PresentationFormat>
  <Paragraphs>202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HospitalFlow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HospitalFlow AI: Healthcare Digital Twin</dc:title>
  <dc:subject>Emergency Department Digital Twin proof of concept</dc:subject>
  <dc:creator>HospitalFlow AI Contributors</dc:creator>
  <cp:lastModifiedBy>Etcherla Sai Manoj - 260101103</cp:lastModifiedBy>
  <cp:revision>3</cp:revision>
  <dcterms:created xsi:type="dcterms:W3CDTF">2026-10-20T13:20:22Z</dcterms:created>
  <dcterms:modified xsi:type="dcterms:W3CDTF">2026-10-24T17:55:19Z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71d1394-37a0-4505-8d21-da79f28efe6c_Enabled">
    <vt:lpwstr>true</vt:lpwstr>
  </property>
  <property fmtid="{D5CDD505-2E9C-101B-9397-08002B2CF9AE}" pid="3" name="MSIP_Label_171d1394-37a0-4505-8d21-da79f28efe6c_SetDate">
    <vt:lpwstr>2026-10-20T13:52:56Z</vt:lpwstr>
  </property>
  <property fmtid="{D5CDD505-2E9C-101B-9397-08002B2CF9AE}" pid="4" name="MSIP_Label_171d1394-37a0-4505-8d21-da79f28efe6c_Method">
    <vt:lpwstr>Standard</vt:lpwstr>
  </property>
  <property fmtid="{D5CDD505-2E9C-101B-9397-08002B2CF9AE}" pid="5" name="MSIP_Label_171d1394-37a0-4505-8d21-da79f28efe6c_Name">
    <vt:lpwstr>defa4170-0d19-0005-0004-bc88714345d2</vt:lpwstr>
  </property>
  <property fmtid="{D5CDD505-2E9C-101B-9397-08002B2CF9AE}" pid="6" name="MSIP_Label_171d1394-37a0-4505-8d21-da79f28efe6c_SiteId">
    <vt:lpwstr>297d2b28-efc2-4659-ab8e-97e0f0d00304</vt:lpwstr>
  </property>
  <property fmtid="{D5CDD505-2E9C-101B-9397-08002B2CF9AE}" pid="7" name="MSIP_Label_171d1394-37a0-4505-8d21-da79f28efe6c_ActionId">
    <vt:lpwstr>81790d71-5872-4186-a542-b4ff6a7775d7</vt:lpwstr>
  </property>
  <property fmtid="{D5CDD505-2E9C-101B-9397-08002B2CF9AE}" pid="8" name="MSIP_Label_171d1394-37a0-4505-8d21-da79f28efe6c_ContentBits">
    <vt:lpwstr>0</vt:lpwstr>
  </property>
  <property fmtid="{D5CDD505-2E9C-101B-9397-08002B2CF9AE}" pid="9" name="MSIP_Label_171d1394-37a0-4505-8d21-da79f28efe6c_Tag">
    <vt:lpwstr>50, 3, 0, 1</vt:lpwstr>
  </property>
</Properties>
</file>